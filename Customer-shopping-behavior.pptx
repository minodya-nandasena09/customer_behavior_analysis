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ragment Mono"/>
      <p:regular r:id="rId201314"/>
    </p:embeddedFont>
    <p:embeddedFont>
      <p:font typeface="Sora SemiBold"/>
      <p:regular r:id="rId201315"/>
    </p:embeddedFont>
    <p:embeddedFont>
      <p:font typeface="Spline Sans SemiBold"/>
      <p:regular r:id="rId201316"/>
    </p:embeddedFont>
    <p:embeddedFont>
      <p:font typeface="Spline Sans Bold"/>
      <p:regular r:id="rId201317"/>
    </p:embeddedFont>
    <p:embeddedFont>
      <p:font typeface="Spline Sans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1808321"/>
            <a:ext cx="647683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2" kern="100" dirty="0">
                <a:solidFill>
                  <a:srgbClr val="C9C9D4"/>
                </a:solidFill>
                <a:latin typeface="Fragment Mono" pitchFamily="34" charset="0"/>
                <a:ea typeface="Fragment Mono" pitchFamily="34" charset="-122"/>
                <a:cs typeface="Fragment Mono" pitchFamily="34" charset="0"/>
              </a:rPr>
              <a:t>RETAIL ANALYSIS · CUSTOMER SHOPPING BEHAVIOR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0383" y="2152844"/>
            <a:ext cx="5867253" cy="238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6400" spc="-224" kern="100" dirty="0">
                <a:solidFill>
                  <a:srgbClr val="F2F2F5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Customer</a:t>
            </a:r>
            <a:endParaRPr lang="en-US" sz="64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0" spc="-224" kern="100" dirty="0">
                <a:solidFill>
                  <a:srgbClr val="F2F2F5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shopping</a:t>
            </a:r>
            <a:endParaRPr lang="en-US" sz="64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0" spc="-224" kern="100" dirty="0">
                <a:solidFill>
                  <a:srgbClr val="F2F2F5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behavior</a:t>
            </a:r>
            <a:endParaRPr lang="en-US" sz="6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521"/>
            <a:ext cx="345431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2" kern="10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0"/>
              </a:rPr>
              <a:t>THE BASE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24818"/>
            <a:ext cx="2844729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100" kern="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3,900 purchases reveal a loyal but under-subscribed customer base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5823347"/>
            <a:ext cx="284472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spc="6" kern="100" dirty="0">
                <a:solidFill>
                  <a:srgbClr val="8E8E9E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A broad purchase history, strong loyalty, and a clear subscription gap.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063898" y="431205"/>
            <a:ext cx="3911502" cy="2977952"/>
          </a:xfrm>
          <a:prstGeom prst="rect">
            <a:avLst/>
          </a:prstGeom>
          <a:noFill/>
          <a:ln w="25399">
            <a:solidFill>
              <a:srgbClr val="3F3F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98882" y="1121640"/>
            <a:ext cx="2641534" cy="597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800" spc="-168" kern="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3,900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698882" y="1869341"/>
            <a:ext cx="325111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purchases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98882" y="2349103"/>
            <a:ext cx="264153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spc="6" kern="100" dirty="0">
                <a:solidFill>
                  <a:srgbClr val="8E8E9E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25 products · 4 categories · 50 locations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80193" y="431205"/>
            <a:ext cx="3911502" cy="2977952"/>
          </a:xfrm>
          <a:prstGeom prst="rect">
            <a:avLst/>
          </a:prstGeom>
          <a:noFill/>
          <a:ln w="25399">
            <a:solidFill>
              <a:srgbClr val="3F3F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15177" y="1121640"/>
            <a:ext cx="2641534" cy="597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800" spc="-168" kern="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$59.76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915177" y="1869341"/>
            <a:ext cx="325111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average purchase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15177" y="2349103"/>
            <a:ext cx="32511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spc="6" kern="100" dirty="0">
                <a:solidFill>
                  <a:srgbClr val="8E8E9E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Average review rating: 3.75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63898" y="3713956"/>
            <a:ext cx="8127797" cy="2712839"/>
          </a:xfrm>
          <a:prstGeom prst="rect">
            <a:avLst/>
          </a:prstGeom>
          <a:solidFill>
            <a:srgbClr val="262635"/>
          </a:solidFill>
          <a:ln/>
        </p:spPr>
      </p:sp>
      <p:sp>
        <p:nvSpPr>
          <p:cNvPr id="14" name="Text 12"/>
          <p:cNvSpPr/>
          <p:nvPr/>
        </p:nvSpPr>
        <p:spPr>
          <a:xfrm>
            <a:off x="4673483" y="4378992"/>
            <a:ext cx="6908627" cy="597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800" spc="-168" kern="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27%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673483" y="5126692"/>
            <a:ext cx="7518212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subscribers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73483" y="5606455"/>
            <a:ext cx="75182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spc="6" kern="100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73% non-subscribers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521"/>
            <a:ext cx="345431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2" kern="10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0"/>
              </a:rPr>
              <a:t>REVENUE MIX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24818"/>
            <a:ext cx="2844729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100" kern="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Male customers generated 68% of recorded revenue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4288096"/>
            <a:ext cx="2844729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Use the split to guide campaign mix, while avoiding demographic assumptions beyond the observed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63898" y="0"/>
            <a:ext cx="8127797" cy="6858000"/>
          </a:xfrm>
          <a:prstGeom prst="rect">
            <a:avLst/>
          </a:prstGeom>
          <a:solidFill>
            <a:srgbClr val="14141C"/>
          </a:solidFill>
          <a:ln w="12700">
            <a:solidFill>
              <a:srgbClr val="2A2A3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183" y="1566069"/>
            <a:ext cx="6476838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86183" y="5081191"/>
            <a:ext cx="74928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spc="6" kern="1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Revenue by gender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667"/>
            <a:ext cx="5333867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2" kern="10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0"/>
              </a:rPr>
              <a:t>LOYALTY × SUBSCRIPTION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78977"/>
            <a:ext cx="4724282" cy="1434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90" kern="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Loyal customers dominate the base, but subscriptions lag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480704"/>
            <a:ext cx="4724282" cy="535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300" spc="-151" kern="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3,116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09585" y="3127772"/>
            <a:ext cx="5333867" cy="250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loyal customers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09585" y="3710719"/>
            <a:ext cx="4724282" cy="535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300" spc="-151" kern="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1,053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609585" y="4357787"/>
            <a:ext cx="5333867" cy="250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subscribers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585" y="4756249"/>
            <a:ext cx="5333867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spc="6" kern="100" dirty="0">
                <a:solidFill>
                  <a:srgbClr val="8E8E9E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$62,645 in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585" y="5280955"/>
            <a:ext cx="4724282" cy="535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300" spc="-151" kern="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2,847</a:t>
            </a:r>
            <a:endParaRPr lang="en-US" sz="4300" dirty="0"/>
          </a:p>
        </p:txBody>
      </p:sp>
      <p:sp>
        <p:nvSpPr>
          <p:cNvPr id="10" name="Text 8"/>
          <p:cNvSpPr/>
          <p:nvPr/>
        </p:nvSpPr>
        <p:spPr>
          <a:xfrm>
            <a:off x="609585" y="5928023"/>
            <a:ext cx="5333867" cy="250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non-subscribers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9585" y="6326485"/>
            <a:ext cx="5333867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spc="6" kern="100" dirty="0">
                <a:solidFill>
                  <a:srgbClr val="8E8E9E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$170,436 in revenue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8244" y="0"/>
            <a:ext cx="5943451" cy="6858000"/>
          </a:xfrm>
          <a:prstGeom prst="rect">
            <a:avLst/>
          </a:prstGeom>
          <a:solidFill>
            <a:srgbClr val="14141C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70528" y="622300"/>
            <a:ext cx="5308467" cy="1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spc="6" kern="1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Customer segments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0528" y="1195487"/>
            <a:ext cx="4698882" cy="29518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521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2" kern="10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0"/>
              </a:rPr>
              <a:t>DISCOUNT DEPENDENCE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24818"/>
            <a:ext cx="1097252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100" kern="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Discounts attract high spend, but some products rely on them heavily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3530203"/>
            <a:ext cx="3657509" cy="1951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0"/>
              </a:rPr>
              <a:t>839 customers</a:t>
            </a:r>
            <a:pPr algn="l" indent="0" marL="0">
              <a:lnSpc>
                <a:spcPct val="121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 spent above the average purchase amount while using discounts.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0"/>
              </a:rPr>
              <a:t>Highest discount rates: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 Hat 50.00%, Sneakers 49.66%, Coat 49.07%, Sweater 48.17%, Pants 47.37%.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5669558"/>
            <a:ext cx="36575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spc="6" kern="100" dirty="0">
                <a:solidFill>
                  <a:srgbClr val="8E8E9E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Protect margin by separating acquisition offers from always-on discounting.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76678" y="2766913"/>
            <a:ext cx="7315017" cy="4091087"/>
          </a:xfrm>
          <a:prstGeom prst="rect">
            <a:avLst/>
          </a:prstGeom>
          <a:solidFill>
            <a:srgbClr val="14141C"/>
          </a:solidFill>
          <a:ln w="12700">
            <a:solidFill>
              <a:srgbClr val="2A2A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8962" y="3389213"/>
            <a:ext cx="6070448" cy="2549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98962" y="6024959"/>
            <a:ext cx="668003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spc="6" kern="1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Highest discount rates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99515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2" kern="10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0"/>
              </a:rPr>
              <a:t>PRODUCT SIGNALS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1509812"/>
            <a:ext cx="1097252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100" kern="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Best sellers and highest-rated products are not the same list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2736949"/>
            <a:ext cx="5333867" cy="2447627"/>
          </a:xfrm>
          <a:prstGeom prst="roundRect">
            <a:avLst>
              <a:gd name="adj" fmla="val 3487"/>
            </a:avLst>
          </a:prstGeom>
          <a:solidFill>
            <a:srgbClr val="14141C"/>
          </a:solidFill>
          <a:ln w="25399">
            <a:solidFill>
              <a:srgbClr val="3F3F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3578" y="2995871"/>
            <a:ext cx="50798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2" kern="100" dirty="0">
                <a:solidFill>
                  <a:srgbClr val="C9C9D4"/>
                </a:solidFill>
                <a:latin typeface="Fragment Mono" pitchFamily="34" charset="0"/>
                <a:ea typeface="Fragment Mono" pitchFamily="34" charset="-122"/>
                <a:cs typeface="Fragment Mono" pitchFamily="34" charset="0"/>
              </a:rPr>
              <a:t>TOP-RATED PRODUCTS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3578" y="3272830"/>
            <a:ext cx="482587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spc="-50" kern="1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Gloves · 3.86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3578" y="3754795"/>
            <a:ext cx="4825879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Sandals · 3.84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Boots · 3.82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Hat · 3.80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Skirt · 3.78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8244" y="2736949"/>
            <a:ext cx="5333867" cy="2447627"/>
          </a:xfrm>
          <a:prstGeom prst="roundRect">
            <a:avLst>
              <a:gd name="adj" fmla="val 3487"/>
            </a:avLst>
          </a:prstGeom>
          <a:solidFill>
            <a:srgbClr val="14141C"/>
          </a:solidFill>
          <a:ln w="25399">
            <a:solidFill>
              <a:srgbClr val="3F3F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2237" y="2995871"/>
            <a:ext cx="50798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2" kern="100" dirty="0">
                <a:solidFill>
                  <a:srgbClr val="C9C9D4"/>
                </a:solidFill>
                <a:latin typeface="Fragment Mono" pitchFamily="34" charset="0"/>
                <a:ea typeface="Fragment Mono" pitchFamily="34" charset="-122"/>
                <a:cs typeface="Fragment Mono" pitchFamily="34" charset="0"/>
              </a:rPr>
              <a:t>TOP SELLERS BY CATEGORY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02237" y="3303945"/>
            <a:ext cx="482587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Jewelry · Sunglasses · Belt · Blouse · Pants · Shirt · Sandals · Shoes · Sneakers · Jacket · Coat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585" y="5371267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Use best-rated items for proof and best-selling items for reach.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521"/>
            <a:ext cx="533386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2" kern="10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0"/>
              </a:rPr>
              <a:t>TARGETING LEVERS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24818"/>
            <a:ext cx="4724282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100" kern="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Shipping and age point to two practical targeting levers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3255141"/>
            <a:ext cx="4724282" cy="597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800" spc="-168" kern="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$60.48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09585" y="4002842"/>
            <a:ext cx="533386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Express shipping average purchase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4482604"/>
            <a:ext cx="53338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spc="6" kern="100" dirty="0">
                <a:solidFill>
                  <a:srgbClr val="8E8E9E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Standard: $58.46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9585" y="4926707"/>
            <a:ext cx="1558886" cy="31651"/>
          </a:xfrm>
          <a:prstGeom prst="roundRect">
            <a:avLst>
              <a:gd name="adj" fmla="val 49998"/>
            </a:avLst>
          </a:prstGeom>
          <a:solidFill>
            <a:srgbClr val="2A2A38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5194360"/>
            <a:ext cx="4724282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Prioritize high-revenue age groups and test express-shipping messaging where the lift is meaningful.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48244" y="0"/>
            <a:ext cx="5943451" cy="6858000"/>
          </a:xfrm>
          <a:prstGeom prst="rect">
            <a:avLst/>
          </a:prstGeom>
          <a:solidFill>
            <a:srgbClr val="14141C"/>
          </a:solidFill>
          <a:ln w="12700">
            <a:solidFill>
              <a:srgbClr val="2A2A3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0528" y="1498203"/>
            <a:ext cx="4698882" cy="295185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70528" y="4532610"/>
            <a:ext cx="4698882" cy="82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50" spc="6" kern="1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Revenue by age group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spc="6" kern="1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Young Adult $62,143 · Middle-aged $59,197 · Adult $55,978 · Senior $55,763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12153"/>
            <a:ext cx="341363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2" kern="10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0"/>
              </a:rPr>
              <a:t>OPERATING 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1022449"/>
            <a:ext cx="280405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100" kern="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The dashboard makes the behavior easy to monitor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4385727"/>
            <a:ext cx="2804050" cy="1767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Track customer count, average purchase, review rating, subscription mix, category performance, and age-group revenue in one view.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23220" y="0"/>
            <a:ext cx="8168475" cy="6858000"/>
          </a:xfrm>
          <a:prstGeom prst="rect">
            <a:avLst/>
          </a:prstGeom>
          <a:noFill/>
          <a:ln w="12700">
            <a:solidFill>
              <a:srgbClr val="2A2A3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5919" y="673100"/>
            <a:ext cx="8143076" cy="43125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521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2" kern="10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0"/>
              </a:rPr>
              <a:t>FROM ANALYSIS TO ACTION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24818"/>
            <a:ext cx="1097252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100" kern="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Five actions can turn the analysis into growth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456755"/>
            <a:ext cx="81734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DE8FF"/>
                </a:solidFill>
                <a:latin typeface="Spline Sans SemiBold" pitchFamily="34" charset="0"/>
                <a:ea typeface="Spline Sans SemiBold" pitchFamily="34" charset="-122"/>
                <a:cs typeface="Spline Sans SemiBold" pitchFamily="34" charset="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741315"/>
            <a:ext cx="5333867" cy="1905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845455"/>
            <a:ext cx="533386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0"/>
              </a:rPr>
              <a:t>Boost subscriptions: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 Make exclusive benefits visible at checkout and after purchase.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48244" y="2456755"/>
            <a:ext cx="84482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DE8FF"/>
                </a:solidFill>
                <a:latin typeface="Spline Sans SemiBold" pitchFamily="34" charset="0"/>
                <a:ea typeface="Spline Sans SemiBold" pitchFamily="34" charset="-122"/>
                <a:cs typeface="Spline Sans SemiBold" pitchFamily="34" charset="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8244" y="2741315"/>
            <a:ext cx="5333867" cy="1905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9" name="Text 7"/>
          <p:cNvSpPr/>
          <p:nvPr/>
        </p:nvSpPr>
        <p:spPr>
          <a:xfrm>
            <a:off x="6248244" y="2845455"/>
            <a:ext cx="533386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0"/>
              </a:rPr>
              <a:t>Reward repeat buyers: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 Move returning customers toward the loyal segment.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585" y="3822105"/>
            <a:ext cx="8495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DE8FF"/>
                </a:solidFill>
                <a:latin typeface="Spline Sans SemiBold" pitchFamily="34" charset="0"/>
                <a:ea typeface="Spline Sans SemiBold" pitchFamily="34" charset="-122"/>
                <a:cs typeface="Spline Sans SemiBold" pitchFamily="34" charset="0"/>
              </a:rPr>
              <a:t>03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585" y="4106664"/>
            <a:ext cx="5333867" cy="1905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12" name="Text 10"/>
          <p:cNvSpPr/>
          <p:nvPr/>
        </p:nvSpPr>
        <p:spPr>
          <a:xfrm>
            <a:off x="609585" y="4210804"/>
            <a:ext cx="533386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0"/>
              </a:rPr>
              <a:t>Review discount policy: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 Protect margin on products with the highest discount dependence.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48244" y="3822105"/>
            <a:ext cx="8523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DE8FF"/>
                </a:solidFill>
                <a:latin typeface="Spline Sans SemiBold" pitchFamily="34" charset="0"/>
                <a:ea typeface="Spline Sans SemiBold" pitchFamily="34" charset="-122"/>
                <a:cs typeface="Spline Sans SemiBold" pitchFamily="34" charset="0"/>
              </a:rPr>
              <a:t>04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48244" y="4106664"/>
            <a:ext cx="5333867" cy="1905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244" y="4210804"/>
            <a:ext cx="533386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0"/>
              </a:rPr>
              <a:t>Position the assortment: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 Pair best-rated products with best-selling category leaders.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585" y="5187652"/>
            <a:ext cx="85197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DE8FF"/>
                </a:solidFill>
                <a:latin typeface="Spline Sans SemiBold" pitchFamily="34" charset="0"/>
                <a:ea typeface="Spline Sans SemiBold" pitchFamily="34" charset="-122"/>
                <a:cs typeface="Spline Sans SemiBold" pitchFamily="34" charset="0"/>
              </a:rPr>
              <a:t>05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585" y="5472212"/>
            <a:ext cx="10972526" cy="1905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18" name="Text 16"/>
          <p:cNvSpPr/>
          <p:nvPr/>
        </p:nvSpPr>
        <p:spPr>
          <a:xfrm>
            <a:off x="609585" y="5576352"/>
            <a:ext cx="1097252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0"/>
              </a:rPr>
              <a:t>Target with evidence: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 Focus campaigns on high-revenue age groups and test express-shipping messages.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04253"/>
            <a:ext cx="374898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2" kern="10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0"/>
              </a:rPr>
              <a:t>THE NEXT DECISION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2127123"/>
            <a:ext cx="3139401" cy="2986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800" spc="-168" kern="1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The next decision is where to focus first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272849" y="711597"/>
            <a:ext cx="630926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spc="-50" kern="1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Near-term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272849" y="1193562"/>
            <a:ext cx="691884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Test one subscription benefit and one discount-policy change.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72849" y="2899370"/>
            <a:ext cx="630926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spc="-50" kern="1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Measure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272849" y="3381335"/>
            <a:ext cx="6309262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Subscription conversion, repeat purchase rate, average order value, and margin by product.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72849" y="5381823"/>
            <a:ext cx="630926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spc="-50" kern="1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Keep learning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72849" y="5863789"/>
            <a:ext cx="691884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0"/>
              </a:rPr>
              <a:t>Refresh the dashboard as new transactions arrive.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264" y="2181423"/>
            <a:ext cx="7528431" cy="127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264" y="4663777"/>
            <a:ext cx="7528431" cy="12700"/>
          </a:xfrm>
          <a:prstGeom prst="rect">
            <a:avLst/>
          </a:prstGeom>
          <a:solidFill>
            <a:srgbClr val="2A2A3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2026-10-23T14:43:36Z</dcterms:created>
  <dcterms:modified xsi:type="dcterms:W3CDTF">2026-10-23T14:43:36Z</dcterms:modified>
</cp:coreProperties>
</file>